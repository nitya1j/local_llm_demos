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4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97B34-5A6C-4E96-B7A4-0F9129FDEC67}" type="datetimeFigureOut">
              <a:t>7/20/26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A8C88-B276-4D52-92EE-D20822395F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3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This deck walks through three teaching modules for running an LLM locally with Ollama. The model is llama3.2:3b - small, fast, and fully private. Everything is plain HTTP to Ollama's REST API, written out in full so you can read exactly what's sent and what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the whole thing: this is about running and controlling a model yourself. The 'no framework' constraint is deliberate - faculty see the actual HTTP request. And the small model isn't a limitation of the material, it's the point: knowing the shape of its failures is the real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 three cover identical material. Notebooks to play, scripts to read and edit, Colab as the fallback if the Hub is down. The one honest caveat: Colab is not private - prompts and (later) your documents leave your machine to a Google VM. That matters because privacy is the whole reason to run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mental model for the whole day. One function, one POST. The prompt is the only required piece. The other three arguments each get their own module: system (how to behave), options (generation knobs), and response_format (output shape). Point back here whenever we add a new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Module 1 is the gentlest starting point: send a prompt, then learn the generation parameters you pass as an options dict - temperature, top_p/top_k, seed, num_predict, stop. These control HOW the model generates, not what you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the demo twice: once at 0.0, once at ~1.2. Low temp -&gt; the two runs match. High temp -&gt; they diverge. Temperature is the parameter faculty will reach for most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work alongside temperature. A common recipe: low temperature plus a modest top_p/top_k for focused output; open all three up for brainstorming. This slide sets up the seed slide's insight about why variety is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great teachable moment - it's the cleanest demonstration that temperature and seed operate ON the model's learned distribution and can't manufacture diversity. The seed cell only sets temperature + seed, so Ollama's default top_k=40 / top_p=0.9 still clip the tail. Show that widening the pool or editing the prompt is what actually produces different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Set num_predict low and the reply gets cut off mid-sentence - reinforce that it's a hard stop, not a politeness request. num_predict is also the practical lever for responsiveness on a CPU-bound 3B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Wrap Module 1 with the cheat sheet, then hand it over: the fill-in-the-blank exercise asks them to combine high temperature (creative), a fixed seed (repeatable), and a small num_predict (short). A worked solution is in the notebook accordion.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Module 2 has four parts: the basic call, system vs. user prompts, five deliberate failure modes, and a hand-written calculator tool that fixes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Live: run the same question under two or three presets back to back. Pirate is the crowd-pleaser but skeptical-scientist vs. terse-expert makes the substantive point - the system prompt shifts not just tone but what the model chooses to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Pick one or two to run live - letter counting and the fake-novel hallucination land best. The key message: the answers look right. Fluent text is not the same as true text. Which failures are fixed by prompting, which by tools, and which only by a bigger model is the real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Toggle the calculator on vs. off on the same 84,637 x 92,481 question - off gives a confident wrong number (callback to the limits slide), on gives the exact product. Land the bridge to the afternoon: RAG is structurally the same move as this calculator, just retrieving documents instead of doing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Module 3 controls the FORMAT of the reply. A four-step ladder, each step fixing the previous one's weakness, all driven by one new field: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down the ladder live. Naive: run it a few times, watch json.loads fail intermittently. format:json: always parses, but the shape wanders between runs. JSON Schema: same keys every time. Pydantic: one source of truth (the class generates the schema) plus validation into real Python types. Note the version caveat - schema output needs a recent-ish Ollama; format:json is the fallback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by tying the four levers together and pointing to the afternoon RAG session, which is structurally the tool-use pattern from Module 2 applied to document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40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2303F"/>
          </a:solidFill>
          <a:ln w="12700">
            <a:solidFill>
              <a:srgbClr val="2C6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804672"/>
            <a:ext cx="128016" cy="128016"/>
          </a:xfrm>
          <a:prstGeom prst="ellipse">
            <a:avLst/>
          </a:prstGeom>
          <a:solidFill>
            <a:srgbClr val="E06C6C"/>
          </a:solidFill>
          <a:ln/>
        </p:spPr>
      </p:sp>
      <p:sp>
        <p:nvSpPr>
          <p:cNvPr id="4" name="Shape 2"/>
          <p:cNvSpPr/>
          <p:nvPr/>
        </p:nvSpPr>
        <p:spPr>
          <a:xfrm>
            <a:off x="9253728" y="804672"/>
            <a:ext cx="128016" cy="128016"/>
          </a:xfrm>
          <a:prstGeom prst="ellipse">
            <a:avLst/>
          </a:prstGeom>
          <a:solidFill>
            <a:srgbClr val="E0B44C"/>
          </a:solidFill>
          <a:ln/>
        </p:spPr>
      </p:sp>
      <p:sp>
        <p:nvSpPr>
          <p:cNvPr id="5" name="Shape 3"/>
          <p:cNvSpPr/>
          <p:nvPr/>
        </p:nvSpPr>
        <p:spPr>
          <a:xfrm>
            <a:off x="9454896" y="804672"/>
            <a:ext cx="128016" cy="128016"/>
          </a:xfrm>
          <a:prstGeom prst="ellipse">
            <a:avLst/>
          </a:prstGeom>
          <a:solidFill>
            <a:srgbClr val="6FC08A"/>
          </a:solidFill>
          <a:ln/>
        </p:spPr>
      </p:sp>
      <p:sp>
        <p:nvSpPr>
          <p:cNvPr id="6" name="Text 4"/>
          <p:cNvSpPr/>
          <p:nvPr/>
        </p:nvSpPr>
        <p:spPr>
          <a:xfrm>
            <a:off x="9006840" y="10515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>
                <a:solidFill>
                  <a:srgbClr val="5FA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ollama run llama3.2:3b
</a:t>
            </a:r>
            <a:r>
              <a:rPr lang="en-US" sz="1050">
                <a:solidFill>
                  <a:srgbClr val="AE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prompt in - text out
&gt;&gt;&gt; nothing leaves</a:t>
            </a:r>
            <a:endParaRPr lang="en-US" sz="105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>
                <a:solidFill>
                  <a:srgbClr val="AE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 machine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Local LLM</a:t>
            </a:r>
            <a:endParaRPr lang="en-US" sz="520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>
                <a:solidFill>
                  <a:srgbClr val="AEC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- Limits - Structure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>
                <a:solidFill>
                  <a:srgbClr val="C9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tour of three modules that talk to a model running on your own machine - over plain HTTP, no SDK, no API key.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4965"/>
          </a:solidFill>
          <a:ln w="12700">
            <a:solidFill>
              <a:srgbClr val="2C6E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57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Prompting &amp; Parameters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343400" y="52578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4965"/>
          </a:solidFill>
          <a:ln w="12700">
            <a:solidFill>
              <a:srgbClr val="2C6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Prompts, Limits &amp; Tools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046720" y="525780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4965"/>
          </a:solidFill>
          <a:ln w="12700">
            <a:solidFill>
              <a:srgbClr val="2C6E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5257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3 - Structured Output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</a:t>
            </a:r>
            <a:endParaRPr lang="en-US" sz="380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language model you control end to end - no cloud, no account, nothing leaving the machine it runs on.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1417320" y="1920240"/>
            <a:ext cx="10149840" cy="914400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2011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on the workshop JupyterHub or your own laptop via Ollama. No API key, no data sent to a vendor.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94360" y="3044952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04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1417320" y="2999232"/>
            <a:ext cx="10149840" cy="914400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30906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framework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4754880" y="3090672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a raw HTTP POST to Ollama with the Python standard library - no LangChain, no SDK, nothing hidden.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594360" y="4123944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123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6" name="Shape 14"/>
          <p:cNvSpPr/>
          <p:nvPr/>
        </p:nvSpPr>
        <p:spPr>
          <a:xfrm>
            <a:off x="1417320" y="4078224"/>
            <a:ext cx="10149840" cy="914400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416966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 top to bottom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4754880" y="4169664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one flat file. You can read the whole pipeline in one sitting and see exactly what happens at each step.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594360" y="5202936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5202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1417320" y="5157216"/>
            <a:ext cx="10149840" cy="914400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45920" y="524865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model, on purpose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4754880" y="5248656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llama3.2:3b is ~3B parameters vs. 100B+ for cloud chatbots. Seeing where it breaks is part of the lesson.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run the same material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modules, three delivery paths - pick whichever fits your setup on the day.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marimo notebooks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buttons, drag sliders, watch results update live.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804672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2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installed on the NC State Hub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804672" y="50292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3F8F6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315968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182880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Python scripts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code, edit values, re-run. No notebook software.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4572000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2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(mostly)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572000" y="50292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3F8F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8083296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828800"/>
            <a:ext cx="3520440" cy="868680"/>
          </a:xfrm>
          <a:prstGeom prst="roundRect">
            <a:avLst>
              <a:gd name="adj" fmla="val 9474"/>
            </a:avLst>
          </a:prstGeom>
          <a:solidFill>
            <a:srgbClr val="1B4965"/>
          </a:solidFill>
          <a:ln/>
        </p:spPr>
      </p:sp>
      <p:sp>
        <p:nvSpPr>
          <p:cNvPr id="20" name="Text 18"/>
          <p:cNvSpPr/>
          <p:nvPr/>
        </p:nvSpPr>
        <p:spPr>
          <a:xfrm>
            <a:off x="8083296" y="182880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8339328" y="28803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cells top to bottom in the browser; it installs everything itself.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8339328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kern="0" spc="2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Google account needed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339328" y="50292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private - runs on Google's VM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integration is one function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HTTP POST to  /api/generate  - a prompt goes in, text comes back. Everything in the workshop is built on this.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4023360"/>
          </a:xfrm>
          <a:prstGeom prst="roundRect">
            <a:avLst>
              <a:gd name="adj" fmla="val 1364"/>
            </a:avLst>
          </a:prstGeom>
          <a:solidFill>
            <a:srgbClr val="1230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5943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5FA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300">
                <a:solidFill>
                  <a:srgbClr val="9AD7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call_ollama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(prompt,
        system=None, options=None,
        response_format=None):
    payload = {
</a:t>
            </a:r>
            <a:r>
              <a:rPr lang="en-US" sz="1300">
                <a:solidFill>
                  <a:srgbClr val="E0B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"model"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model,
</a:t>
            </a:r>
            <a:r>
              <a:rPr lang="en-US" sz="1300">
                <a:solidFill>
                  <a:srgbClr val="E0B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"prompt"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prompt,
    }
</a:t>
            </a:r>
            <a:r>
              <a:rPr lang="en-US" sz="1300">
                <a:solidFill>
                  <a:srgbClr val="7F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# + system / options / format
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 = POST(</a:t>
            </a:r>
            <a:r>
              <a:rPr lang="en-US" sz="1300">
                <a:solidFill>
                  <a:srgbClr val="E0B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"/api/generate"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payload)
</a:t>
            </a:r>
            <a:r>
              <a:rPr lang="en-US" sz="1300">
                <a:solidFill>
                  <a:srgbClr val="5FA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r[</a:t>
            </a:r>
            <a:r>
              <a:rPr lang="en-US" sz="1300">
                <a:solidFill>
                  <a:srgbClr val="E0B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"response"</a:t>
            </a:r>
            <a:r>
              <a:rPr lang="en-US" sz="130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0866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inputs, one per module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7086600" y="242316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242316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9098280" y="242316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or task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7086600" y="3264408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EAF2F7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326440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9098280" y="3264408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behave  -&gt;  Module 2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7086600" y="4105656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EA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410565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9098280" y="41056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seed, ...  -&gt;  Module 1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7086600" y="4946904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EA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494690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response_format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9098280" y="494690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reply  -&gt;  Module 3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1920240" cy="1920240"/>
          </a:xfrm>
          <a:prstGeom prst="ellipse">
            <a:avLst/>
          </a:prstGeom>
          <a:solidFill>
            <a:srgbClr val="1B4965"/>
          </a:solidFill>
          <a:ln w="25400">
            <a:solidFill>
              <a:srgbClr val="2C6E8F"/>
            </a:solidFill>
            <a:prstDash val="solid"/>
          </a:ln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5800" y="23317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301752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2971800" y="27889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&amp; Parameters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301752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AEC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dials that control how the model generates text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PARAMETERS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- the randomness dial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model is allowed to gamble when picking each next word.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F8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 -  0.0 - 0.3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deterministic. Picks the most likely word almost every time. Good for facts, code, repeatable answers.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21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 -  0.8 - 1.5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Adventurous. Willing to pick less likely words - reads as more creative, and more prone to going off the rails.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230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2702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- same prompt sent twice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77240" y="454456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one-sentence bedtime story about a sleepy robot."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66928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low temperature the two runs look nearly identical; crank it up and they drift apart. That divergence IS the randomness you dialed in.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PARAMETERS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top_p and top_k - narrowing the pool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decides how much to gamble; these decide which words are even on the table.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2697480" y="2039112"/>
            <a:ext cx="8732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k most likely words. top_k = 10 means 'only ever consider the 10 best candidates.'  Lower = safer.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697480" y="3090672"/>
            <a:ext cx="8732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smallest set of top words whose probabilities add up to p (nucleus sampling). top_p = 0.9 covers 90% of the mass. Lower = safer.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230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31596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- try top_k = 1 vs. top_k = 100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77240" y="459028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"Suggest a creative name for a campus coffee shop."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66928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top_k = 1 the model must take its single most likely word every time - output gets repetitive and 'safe.'  Wider settings let variety through.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PARAMETERS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- making randomness repeatable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+ same parameters + same prompt -&gt; the same output, every run.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fixes the starting point of the random number generator. Send the same prompt twice with the same seed and - even at high temperature - the two replies come back identical.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1230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8424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- sent twice with one seed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6400800" y="225856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"Invent a name and one-line backstory</a:t>
            </a:r>
            <a:endParaRPr lang="en-US" sz="1250"/>
          </a:p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a friendly dragon."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6190488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seed -&gt; both runs change together.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1508760" y="404164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9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'Why does it keep naming the dragon the same thing?'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508760" y="4526280"/>
            <a:ext cx="9921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parameters reshape a distribution the model already has - they can't invent variety it doesn't have. 'Friendly dragon' puts almost all the probability on a few names (Ember, Ash...). </a:t>
            </a:r>
            <a:r>
              <a:rPr lang="en-US" sz="1350" b="1">
                <a:solidFill>
                  <a:srgbClr val="16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picks which draw you take; </a:t>
            </a:r>
            <a:r>
              <a:rPr lang="en-US" sz="1350" b="1">
                <a:solidFill>
                  <a:srgbClr val="16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flattens the spike but rarely dethrones the leader. </a:t>
            </a:r>
            <a:r>
              <a:rPr lang="en-US" sz="1350" b="1">
                <a:solidFill>
                  <a:srgbClr val="9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real variety: widen top_p / top_k, or change the prompt.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PARAMETERS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num_predict and stop - controlling length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dials that decide when the model stops talking.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num_predict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cap on how many tokens the model may generate. Small values force short answers - and it's the main knob for keeping a slow local model responsive. The cap doesn't ask for brevity; it just cuts generation off.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103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400800" y="2542032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strings that cut generation off the instant the model produces one. Handy for structured output - stop at a marker like 'END', or at '3.' to cut a numbered list short.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230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4531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- set a small num_predict (say 16)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77240" y="47274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 three tips for studying effectively."   -&gt;  watch the answer truncate mid-thought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RECAP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dials, at a glance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Module 1 is just building one options dictionary and passing it along.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EAF2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3246120" y="19202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 / creative the output is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786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top_p, top_k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3246120" y="257860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candidate words are even considered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EA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369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3246120" y="323697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random output repeatable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9534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num_predict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3246120" y="389534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output length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6766560" cy="566928"/>
          </a:xfrm>
          <a:prstGeom prst="roundRect">
            <a:avLst>
              <a:gd name="adj" fmla="val 8065"/>
            </a:avLst>
          </a:prstGeom>
          <a:solidFill>
            <a:srgbClr val="EA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537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2C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3246120" y="455371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that cut generation off early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7589520" y="19202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0F2A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181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7818120" y="245059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options dict yourself so the answer is: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781812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creative</a:t>
            </a:r>
            <a:r>
              <a:rPr lang="en-US" sz="1200">
                <a:solidFill>
                  <a:srgbClr val="AE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temperature
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r>
              <a:rPr lang="en-US" sz="1200">
                <a:solidFill>
                  <a:srgbClr val="AE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seed
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short</a:t>
            </a:r>
            <a:r>
              <a:rPr lang="en-US" sz="1200">
                <a:solidFill>
                  <a:srgbClr val="AEC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num_predict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818120" y="5029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>
                <a:solidFill>
                  <a:srgbClr val="AE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blanks, run twice, and confirm the seed makes it repeat.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1920240" cy="1920240"/>
          </a:xfrm>
          <a:prstGeom prst="ellipse">
            <a:avLst/>
          </a:prstGeom>
          <a:solidFill>
            <a:srgbClr val="1B4965"/>
          </a:solidFill>
          <a:ln w="25400">
            <a:solidFill>
              <a:srgbClr val="2C6E8F"/>
            </a:solidFill>
            <a:prstDash val="solid"/>
          </a:ln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5800" y="23317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301752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2971800" y="27889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Prompts, Limits &amp; Tools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301752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AEC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cheapest lever on behavior - and where a small model breaks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BEHAVIOR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vs. user prompt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different instructions for how to answer - the cheapest lever you have.</a:t>
            </a:r>
            <a:endParaRPr lang="en-US" sz="145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prompt is held fixed: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230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0428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 (unchanged every run)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E6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"Should I refactor this messy code now, or ship the feature first?"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...only the system prompt preset changes:</a:t>
            </a:r>
            <a:endParaRPr lang="en-US" sz="135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066544" cy="1234440"/>
          </a:xfrm>
          <a:prstGeom prst="roundRect">
            <a:avLst>
              <a:gd name="adj" fmla="val 5185"/>
            </a:avLst>
          </a:prstGeom>
          <a:solidFill>
            <a:srgbClr val="2C6E8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840480"/>
            <a:ext cx="1883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 assistant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2798064" y="3840480"/>
            <a:ext cx="2066544" cy="1234440"/>
          </a:xfrm>
          <a:prstGeom prst="roundRect">
            <a:avLst>
              <a:gd name="adj" fmla="val 5185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89504" y="3840480"/>
            <a:ext cx="1883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Terse domain expert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047488" y="3840480"/>
            <a:ext cx="2066544" cy="1234440"/>
          </a:xfrm>
          <a:prstGeom prst="roundRect">
            <a:avLst>
              <a:gd name="adj" fmla="val 5185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38928" y="3840480"/>
            <a:ext cx="1883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like I'm 5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7296912" y="3840480"/>
            <a:ext cx="2066544" cy="1234440"/>
          </a:xfrm>
          <a:prstGeom prst="roundRect">
            <a:avLst>
              <a:gd name="adj" fmla="val 5185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88352" y="3840480"/>
            <a:ext cx="1883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Skeptical scientist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9546336" y="3840480"/>
            <a:ext cx="2066544" cy="1234440"/>
          </a:xfrm>
          <a:prstGeom prst="roundRect">
            <a:avLst>
              <a:gd name="adj" fmla="val 5185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37776" y="3840480"/>
            <a:ext cx="18836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Pirate captain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i="1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question - tone, structure, even the content of the answer shift. No retraining, just a different instruction string prepended to every request.</a:t>
            </a:r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LIMITS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small model breaks down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parameters is fast and private - but it fails in specific, learnable ways. Shown on purpose.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76856"/>
            <a:ext cx="502920" cy="502920"/>
          </a:xfrm>
          <a:prstGeom prst="ellipse">
            <a:avLst/>
          </a:prstGeom>
          <a:solidFill>
            <a:srgbClr val="E08A3C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276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9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 counting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many r's in strawberry?' - it sees tokens, not characters.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575304"/>
            <a:ext cx="502920" cy="502920"/>
          </a:xfrm>
          <a:prstGeom prst="ellipse">
            <a:avLst/>
          </a:prstGeom>
          <a:solidFill>
            <a:srgbClr val="E08A3C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1417320" y="33741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9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Multi-digit math</a:t>
            </a:r>
            <a:endParaRPr lang="en-US" sz="1550"/>
          </a:p>
        </p:txBody>
      </p:sp>
      <p:sp>
        <p:nvSpPr>
          <p:cNvPr id="14" name="Text 12"/>
          <p:cNvSpPr/>
          <p:nvPr/>
        </p:nvSpPr>
        <p:spPr>
          <a:xfrm>
            <a:off x="1417320" y="37216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84,637 x 92,481 - pattern-matches instead of computing. Confident, wrong.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873752"/>
            <a:ext cx="502920" cy="502920"/>
          </a:xfrm>
          <a:prstGeom prst="ellipse">
            <a:avLst/>
          </a:prstGeom>
          <a:solidFill>
            <a:srgbClr val="E08A3C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4873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1417320" y="467258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9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cutoff</a:t>
            </a:r>
            <a:endParaRPr lang="en-US" sz="1550"/>
          </a:p>
        </p:txBody>
      </p:sp>
      <p:sp>
        <p:nvSpPr>
          <p:cNvPr id="19" name="Text 17"/>
          <p:cNvSpPr/>
          <p:nvPr/>
        </p:nvSpPr>
        <p:spPr>
          <a:xfrm>
            <a:off x="1417320" y="502005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'Most recent Super Bowl?' - guesses from stale training data.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4808" y="2276856"/>
            <a:ext cx="502920" cy="502920"/>
          </a:xfrm>
          <a:prstGeom prst="ellipse">
            <a:avLst/>
          </a:prstGeom>
          <a:solidFill>
            <a:srgbClr val="E08A3C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64808" y="2276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7132320" y="207568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9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Multi-constraint</a:t>
            </a:r>
            <a:endParaRPr lang="en-US" sz="1550"/>
          </a:p>
        </p:txBody>
      </p:sp>
      <p:sp>
        <p:nvSpPr>
          <p:cNvPr id="24" name="Text 22"/>
          <p:cNvSpPr/>
          <p:nvPr/>
        </p:nvSpPr>
        <p:spPr>
          <a:xfrm>
            <a:off x="7132320" y="242316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sentences, one starts with B, one has 7 words... drops a rule under load.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6263640" y="3264408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64808" y="3575304"/>
            <a:ext cx="502920" cy="502920"/>
          </a:xfrm>
          <a:prstGeom prst="ellipse">
            <a:avLst/>
          </a:prstGeom>
          <a:solidFill>
            <a:srgbClr val="E08A3C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64808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7132320" y="33741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9A5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550"/>
          </a:p>
        </p:txBody>
      </p:sp>
      <p:sp>
        <p:nvSpPr>
          <p:cNvPr id="29" name="Text 27"/>
          <p:cNvSpPr/>
          <p:nvPr/>
        </p:nvSpPr>
        <p:spPr>
          <a:xfrm>
            <a:off x="7132320" y="37216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 novel that doesn't exist - invents a plausible plot.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6263640" y="4562856"/>
            <a:ext cx="5440680" cy="1143000"/>
          </a:xfrm>
          <a:prstGeom prst="roundRect">
            <a:avLst>
              <a:gd name="adj" fmla="val 5600"/>
            </a:avLst>
          </a:prstGeom>
          <a:solidFill>
            <a:srgbClr val="0F2A3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466344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i="1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failures are fluent and confident, not obviously broken - which is exactly what makes them worth seeing live.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TOOLS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tool use - give it a calculator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ask the model to compute. Teach it to ask for a calculation, then run real code.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94560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question with a system prompt: reply with  CALC: &lt;expression&gt;  instead of guessing.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950208" y="1965960"/>
            <a:ext cx="502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3000"/>
          </a:p>
        </p:txBody>
      </p:sp>
      <p:sp>
        <p:nvSpPr>
          <p:cNvPr id="11" name="Shape 9"/>
          <p:cNvSpPr/>
          <p:nvPr/>
        </p:nvSpPr>
        <p:spPr>
          <a:xfrm>
            <a:off x="4315968" y="19659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194560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5276088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&amp; calculate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reply starts with CALC:, pull out the expression and evaluate it for real in Python.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7717536" y="1965960"/>
            <a:ext cx="502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3000"/>
          </a:p>
        </p:txBody>
      </p:sp>
      <p:sp>
        <p:nvSpPr>
          <p:cNvPr id="17" name="Shape 15"/>
          <p:cNvSpPr/>
          <p:nvPr/>
        </p:nvSpPr>
        <p:spPr>
          <a:xfrm>
            <a:off x="8083296" y="19659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39328" y="2194560"/>
            <a:ext cx="548640" cy="548640"/>
          </a:xfrm>
          <a:prstGeom prst="ellipse">
            <a:avLst/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932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9043416" y="2240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C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again</a:t>
            </a:r>
            <a:endParaRPr lang="en-US" sz="1700"/>
          </a:p>
        </p:txBody>
      </p:sp>
      <p:sp>
        <p:nvSpPr>
          <p:cNvPr id="21" name="Text 19"/>
          <p:cNvSpPr/>
          <p:nvPr/>
        </p:nvSpPr>
        <p:spPr>
          <a:xfrm>
            <a:off x="8339328" y="29260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exact result back to the model so its final answer uses real math, not a guess.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5F1EB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>
                <a:solidFill>
                  <a:srgbClr val="3F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'function calling' written out by hand. </a:t>
            </a: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extends to a web search, a database query, or document retrieval. That last one </a:t>
            </a:r>
            <a:r>
              <a:rPr lang="en-US" sz="1350" b="1">
                <a:solidFill>
                  <a:srgbClr val="3F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RAG is</a:t>
            </a:r>
            <a:r>
              <a:rPr lang="en-US" sz="135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 retrieval tool the model calls before answering, instead of a calculator.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1920240" cy="1920240"/>
          </a:xfrm>
          <a:prstGeom prst="ellipse">
            <a:avLst/>
          </a:prstGeom>
          <a:solidFill>
            <a:srgbClr val="1B4965"/>
          </a:solidFill>
          <a:ln w="25400">
            <a:solidFill>
              <a:srgbClr val="2C6E8F"/>
            </a:solidFill>
            <a:prstDash val="solid"/>
          </a:ln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5800" y="233172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/>
          </a:p>
        </p:txBody>
      </p:sp>
      <p:sp>
        <p:nvSpPr>
          <p:cNvPr id="4" name="Text 2"/>
          <p:cNvSpPr/>
          <p:nvPr/>
        </p:nvSpPr>
        <p:spPr>
          <a:xfrm>
            <a:off x="301752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2971800" y="27889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301752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AEC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'hope it parses' to typed, validated data</a:t>
            </a:r>
            <a:endParaRPr 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FORMAT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ladder to clean, machine-readable data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argument does all the work:  response_format  -&gt;  Ollama's  format  field.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BEEE0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93976"/>
            <a:ext cx="512064" cy="512064"/>
          </a:xfrm>
          <a:prstGeom prst="ellipse">
            <a:avLst/>
          </a:prstGeom>
          <a:solidFill>
            <a:srgbClr val="E08A3C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939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1417320" y="19202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6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prompt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'...respond in JSON' and hope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7452360" y="1920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 </a:t>
            </a:r>
            <a:r>
              <a:rPr lang="en-US" sz="1200" b="1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maybe-valid text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9921240" y="19202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that breaks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081528"/>
            <a:ext cx="512064" cy="512064"/>
          </a:xfrm>
          <a:prstGeom prst="ellipse">
            <a:avLst/>
          </a:prstGeom>
          <a:solidFill>
            <a:srgbClr val="2C6E8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81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1417320" y="2907792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6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'json'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4114800" y="290779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guarantees valid JSON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7452360" y="290779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 </a:t>
            </a:r>
            <a:r>
              <a:rPr lang="en-US" sz="1200" b="1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JSON, any shape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9921240" y="2907792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JSON, shape can vary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48640" y="3895344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AF2F7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69080"/>
            <a:ext cx="512064" cy="512064"/>
          </a:xfrm>
          <a:prstGeom prst="ellipse">
            <a:avLst/>
          </a:prstGeom>
          <a:solidFill>
            <a:srgbClr val="2C6E8F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069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1417320" y="3895344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6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Schema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4114800" y="3895344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fields, your types, required keys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452360" y="389534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 </a:t>
            </a:r>
            <a:r>
              <a:rPr lang="en-US" sz="1200" b="1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JSON, your shape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9921240" y="3895344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field extraction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E5F1EB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5056632"/>
            <a:ext cx="512064" cy="512064"/>
          </a:xfrm>
          <a:prstGeom prst="ellipse">
            <a:avLst/>
          </a:prstGeom>
          <a:solidFill>
            <a:srgbClr val="3F8F6B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5056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1417320" y="4882896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624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</a:t>
            </a:r>
            <a:endParaRPr lang="en-US" sz="1450"/>
          </a:p>
        </p:txBody>
      </p:sp>
      <p:sp>
        <p:nvSpPr>
          <p:cNvPr id="30" name="Text 28"/>
          <p:cNvSpPr/>
          <p:nvPr/>
        </p:nvSpPr>
        <p:spPr>
          <a:xfrm>
            <a:off x="4114800" y="4882896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 over many sentences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7452360" y="488289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 </a:t>
            </a:r>
            <a:r>
              <a:rPr lang="en-US" sz="1200" b="1">
                <a:solidFill>
                  <a:srgbClr val="162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table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9921240" y="4882896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you can compute on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2C6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fixes the one above it.   Step 4 runs one Person schema over six differently-worded sentences and tabulates the results.</a:t>
            </a:r>
            <a:endParaRPr lang="en-US" sz="125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E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Summer Workshop  ·  Local LLM via Ollama  ·  llama3.2:3b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FA8D3"/>
                </a:solidFill>
                <a:latin typeface="Calibri"/>
              </a:rPr>
              <a:t>MODULE 3 - 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1B4965"/>
                </a:solidFill>
                <a:latin typeface="Cambria"/>
              </a:rPr>
              <a:t>Six messy sentences, one clean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E7079"/>
                </a:solidFill>
                <a:latin typeface="Calibri"/>
              </a:rPr>
              <a:t>The same Person schema, one call per sentence - and results you can actually compute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675120" cy="2971800"/>
          </a:xfrm>
          <a:prstGeom prst="roundRect">
            <a:avLst>
              <a:gd name="adj" fmla="val 7368"/>
            </a:avLst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29968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6E8F"/>
                </a:solidFill>
                <a:latin typeface="Calibri"/>
              </a:rPr>
              <a:t>EXTRACTED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263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#  name            age  city        occupation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1  Maria           34   Austin      software engineer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2  James Okonkwo   41   Seattle     cardiologist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3  Yuki Tanaka     29   Portland    chemistry teacher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4  Priya Raman     38   Chicago     accountant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5  Tom Alvarez     35   Miami       graphic designer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6242D"/>
                </a:solidFill>
                <a:latin typeface="Courier New"/>
              </a:rPr>
              <a:t>6  Ahmed Hassan    52   New York   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6263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8F6B"/>
                </a:solidFill>
                <a:latin typeface="Courier New"/>
              </a:rPr>
              <a:t>mean age 38.2   (range 29-52)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33087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E7079"/>
                </a:solidFill>
                <a:latin typeface="Calibri"/>
              </a:rPr>
              <a:t>That average only works because age validated to a real 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920240"/>
            <a:ext cx="4206240" cy="1417320"/>
          </a:xfrm>
          <a:prstGeom prst="roundRect">
            <a:avLst>
              <a:gd name="adj" fmla="val 7368"/>
            </a:avLst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35240" y="2121408"/>
            <a:ext cx="457200" cy="457200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21408"/>
            <a:ext cx="3154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4965"/>
                </a:solidFill>
                <a:latin typeface="Cambria"/>
              </a:rPr>
              <a:t>Age given as a birth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70048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2D"/>
                </a:solidFill>
                <a:latin typeface="Calibri"/>
              </a:rPr>
              <a:t>"Born in 1990..." - the model has to subtract. The arithmetic weakness from Module 2, now hidden inside extraction.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474720"/>
            <a:ext cx="4206240" cy="1417320"/>
          </a:xfrm>
          <a:prstGeom prst="roundRect">
            <a:avLst>
              <a:gd name="adj" fmla="val 7368"/>
            </a:avLst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635240" y="3675887"/>
            <a:ext cx="457200" cy="457200"/>
          </a:xfrm>
          <a:prstGeom prst="ellipse">
            <a:avLst/>
          </a:prstGeom>
          <a:solidFill>
            <a:srgbClr val="E0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675887"/>
            <a:ext cx="3154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4965"/>
                </a:solidFill>
                <a:latin typeface="Cambria"/>
              </a:rPr>
              <a:t>No city in the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224528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2D"/>
                </a:solidFill>
                <a:latin typeface="Calibri"/>
              </a:rPr>
              <a:t>city is a required str, so the model cannot answer "unknown". It invents one instead.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7368"/>
            </a:avLst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E08A3C"/>
                </a:solidFill>
                <a:latin typeface="Calibri"/>
              </a:rPr>
              <a:t>Structured output guarantees the SHAPE of an answer, not its TRUTH.</a:t>
            </a:r>
          </a:p>
          <a:p>
            <a:r>
              <a:rPr sz="1250">
                <a:solidFill>
                  <a:srgbClr val="16242D"/>
                </a:solidFill>
                <a:latin typeface="Calibri"/>
              </a:rPr>
              <a:t>A schema makes results parseable, not correct - and a confidently wrong value in a clean table looks exactly like a right one. The fix: declare the field as  city: str | None = None  so the model can legitimately answer null instead of guessing.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7079"/>
                </a:solidFill>
                <a:latin typeface="Calibri"/>
              </a:rPr>
              <a:t>Applied AI Summer Workshop  ·  Local LLM via Ollama  ·  llama3.2:3b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LEVERS YOU NOW HAVE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5FA8D3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554480" y="21671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&amp; parameters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896112" y="271576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prompt is the task; temperature, seed, and length dials shape how it's generated. Sampling can't create variety the model doesn't have.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5FA8D3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7178040" y="21671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519672" y="271576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behavior lever - tone, role, format - no retraining, just an instruction string.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5FA8D3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554480" y="39044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ceiling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896112" y="445312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fixes tokenization blindness or a knowledge cutoff. Some failures need tools; some need a bigger model.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1B4965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31920"/>
            <a:ext cx="502920" cy="502920"/>
          </a:xfrm>
          <a:prstGeom prst="ellipse">
            <a:avLst/>
          </a:prstGeom>
          <a:solidFill>
            <a:srgbClr val="5FA8D3"/>
          </a:solidFill>
          <a:ln/>
          <a:effectLst>
            <a:outerShdw blurRad="88900" dist="38100" dir="5400000" algn="bl" rotWithShape="0">
              <a:srgbClr val="9AAAB3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7178040" y="39044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structure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519672" y="445312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D5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to real code for what the model can't do; constrain the output format so your code can parse it reliably.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C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 -&gt;  the Local LLM and RAG session: giving the model a document corpus it wasn't trained on.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2892</Words>
  <Application>Microsoft Macintosh PowerPoint</Application>
  <PresentationFormat>Widescreen</PresentationFormat>
  <Paragraphs>251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Tarek Nadim Aziz PhD</cp:lastModifiedBy>
  <cp:revision>1</cp:revision>
  <dcterms:created xsi:type="dcterms:W3CDTF">2026-07-20T15:35:00Z</dcterms:created>
  <dcterms:modified xsi:type="dcterms:W3CDTF">2026-07-20T16:36:53Z</dcterms:modified>
</cp:coreProperties>
</file>